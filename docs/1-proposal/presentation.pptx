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8288000" cy="10287000"/>
  <p:notesSz cx="6858000" cy="9144000"/>
  <p:embeddedFontLst>
    <p:embeddedFont>
      <p:font typeface="Open Sans" panose="020B0606030504020204" pitchFamily="34" charset="0"/>
      <p:regular r:id="rId10"/>
    </p:embeddedFont>
    <p:embeddedFont>
      <p:font typeface="Open Sauce" pitchFamily="2" charset="77"/>
      <p:regular r:id="rId11"/>
    </p:embeddedFont>
    <p:embeddedFont>
      <p:font typeface="Open Sauce Bold" pitchFamily="2" charset="77"/>
      <p:regular r:id="rId12"/>
      <p:bold r:id="rId13"/>
    </p:embeddedFont>
    <p:embeddedFont>
      <p:font typeface="Open Sauce Heavy" pitchFamily="2" charset="77"/>
      <p:regular r:id="rId14"/>
      <p:bold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autoAdjust="0"/>
    <p:restoredTop sz="94637" autoAdjust="0"/>
  </p:normalViewPr>
  <p:slideViewPr>
    <p:cSldViewPr>
      <p:cViewPr varScale="1">
        <p:scale>
          <a:sx n="69" d="100"/>
          <a:sy n="69" d="100"/>
        </p:scale>
        <p:origin x="920" y="20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font" Target="fonts/font6.fntdata"/><Relationship Id="rId10" Type="http://schemas.openxmlformats.org/officeDocument/2006/relationships/font" Target="fonts/font1.fntdata"/><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font" Target="fonts/font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23.10.2024</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good afternoon everyone, my name is Liz and my name is Zeynep, and today we're excited to present our project idea which is an app called pulse path.</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when looking for an idea for this app we started thinking about problems that we face and that don't have a solution for.</a:t>
            </a:r>
          </a:p>
          <a:p>
            <a:r>
              <a:rPr lang="en-US"/>
              <a:t>Both of us really enjoy attending festivals especially during the busy summer festivals time, and we find overcrowding to be always an issue that always hinders our experience.</a:t>
            </a:r>
          </a:p>
          <a:p>
            <a:r>
              <a:rPr lang="en-US"/>
              <a:t>We've paid a lot of money to attend the festival and waited most of the year to attend it so when we get there there's always fights between our friend group on how we should delegate our time to avoid the big crowds and make the most of our festival. </a:t>
            </a:r>
          </a:p>
          <a:p>
            <a:r>
              <a:rPr lang="en-US"/>
              <a:t>This is how we came up with an idea for an app that will show us in live time where is busiest on the festival grounds.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target market size: 11 music festivals in ireland</a:t>
            </a:r>
          </a:p>
          <a:p>
            <a:endParaRPr lang="en-US"/>
          </a:p>
          <a:p>
            <a:r>
              <a:rPr lang="en-US"/>
              <a:t>life - 10000</a:t>
            </a:r>
          </a:p>
          <a:p>
            <a:r>
              <a:rPr lang="en-US"/>
              <a:t>longitude - 40000</a:t>
            </a:r>
          </a:p>
          <a:p>
            <a:r>
              <a:rPr lang="en-US"/>
              <a:t>ep - 70000</a:t>
            </a:r>
          </a:p>
          <a:p>
            <a:r>
              <a:rPr lang="en-US"/>
              <a:t>district - 20000</a:t>
            </a:r>
          </a:p>
          <a:p>
            <a:r>
              <a:rPr lang="en-US"/>
              <a:t>body and soul - 5000</a:t>
            </a:r>
          </a:p>
          <a:p>
            <a:r>
              <a:rPr lang="en-US"/>
              <a:t>fuinneamh - 3000</a:t>
            </a:r>
          </a:p>
          <a:p>
            <a:r>
              <a:rPr lang="en-US"/>
              <a:t>forbidden - 15000</a:t>
            </a:r>
          </a:p>
          <a:p>
            <a:r>
              <a:rPr lang="en-US"/>
              <a:t>AVA - 10000</a:t>
            </a:r>
          </a:p>
          <a:p>
            <a:r>
              <a:rPr lang="en-US"/>
              <a:t>belsonic - 15000</a:t>
            </a:r>
          </a:p>
          <a:p>
            <a:r>
              <a:rPr lang="en-US"/>
              <a:t>sea sessions - 10000</a:t>
            </a:r>
          </a:p>
          <a:p>
            <a:r>
              <a:rPr lang="en-US"/>
              <a:t>emerge - 40000</a:t>
            </a:r>
          </a:p>
          <a:p>
            <a:endParaRPr lang="en-US"/>
          </a:p>
          <a:p>
            <a:r>
              <a:rPr lang="en-US"/>
              <a:t>total - 238,000</a:t>
            </a:r>
          </a:p>
          <a:p>
            <a:endParaRPr lang="en-US"/>
          </a:p>
          <a:p>
            <a:r>
              <a:rPr lang="en-US"/>
              <a:t>average capacity/attendees: 22,000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we plan on developing an app that will resemble the grounds of a festival, including stages/ food stalls/ water stations etc. and all these areas will be accompanied by a sign that will show the live crowd capacity at each area</a:t>
            </a:r>
          </a:p>
          <a:p>
            <a:r>
              <a:rPr lang="en-US"/>
              <a:t>We'll use colours(and/or numbers) to demonstrate the capacity In each area, green for low capacity orange for medium and red for max capacity</a:t>
            </a:r>
          </a:p>
          <a:p>
            <a:r>
              <a:rPr lang="en-US"/>
              <a:t>We're hoping to create a prototype at a smaller scale that will showcase the grounds of a mock festival and use that to test our logic.</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Even though a proposed timeline isn't fully clear at the moment, since once development starts we might have to change or add things, taking into account our supervisors feedback aswell.</a:t>
            </a:r>
          </a:p>
          <a:p>
            <a:r>
              <a:rPr lang="en-US"/>
              <a:t>But we are aiming to start development in late November to early December.</a:t>
            </a:r>
          </a:p>
          <a:p>
            <a:r>
              <a:rPr lang="en-US"/>
              <a:t>We're going to delegate the work going off of each other's strong suits and as development progress we can always make adjustments depending on the prioritised tasks.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10/23/24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10/23/24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10/23/24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10/23/24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10/23/24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10/23/24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10/23/24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10/23/24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10/23/24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10/23/24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10/23/24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10/23/24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10" Type="http://schemas.openxmlformats.org/officeDocument/2006/relationships/image" Target="../media/image8.svg"/><Relationship Id="rId4" Type="http://schemas.openxmlformats.org/officeDocument/2006/relationships/image" Target="../media/image2.sv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10" Type="http://schemas.openxmlformats.org/officeDocument/2006/relationships/image" Target="../media/image8.svg"/><Relationship Id="rId4" Type="http://schemas.openxmlformats.org/officeDocument/2006/relationships/image" Target="../media/image2.svg"/><Relationship Id="rId9" Type="http://schemas.openxmlformats.org/officeDocument/2006/relationships/image" Target="../media/image7.png"/></Relationships>
</file>

<file path=ppt/slides/_rels/slide3.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10" Type="http://schemas.openxmlformats.org/officeDocument/2006/relationships/image" Target="../media/image8.svg"/><Relationship Id="rId4" Type="http://schemas.openxmlformats.org/officeDocument/2006/relationships/image" Target="../media/image2.svg"/><Relationship Id="rId9" Type="http://schemas.openxmlformats.org/officeDocument/2006/relationships/image" Target="../media/image7.png"/></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_rels/slide5.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10" Type="http://schemas.openxmlformats.org/officeDocument/2006/relationships/image" Target="../media/image8.svg"/><Relationship Id="rId4" Type="http://schemas.openxmlformats.org/officeDocument/2006/relationships/image" Target="../media/image2.svg"/><Relationship Id="rId9" Type="http://schemas.openxmlformats.org/officeDocument/2006/relationships/image" Target="../media/image7.png"/></Relationships>
</file>

<file path=ppt/slides/_rels/slide6.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10" Type="http://schemas.openxmlformats.org/officeDocument/2006/relationships/image" Target="../media/image8.svg"/><Relationship Id="rId4" Type="http://schemas.openxmlformats.org/officeDocument/2006/relationships/image" Target="../media/image2.svg"/><Relationship Id="rId9" Type="http://schemas.openxmlformats.org/officeDocument/2006/relationships/image" Target="../media/image7.png"/></Relationships>
</file>

<file path=ppt/slides/_rels/slide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993211" y="1033107"/>
            <a:ext cx="8301578" cy="2940598"/>
          </a:xfrm>
          <a:prstGeom prst="rect">
            <a:avLst/>
          </a:prstGeom>
        </p:spPr>
        <p:txBody>
          <a:bodyPr lIns="0" tIns="0" rIns="0" bIns="0" rtlCol="0" anchor="t">
            <a:spAutoFit/>
          </a:bodyPr>
          <a:lstStyle/>
          <a:p>
            <a:pPr algn="ctr">
              <a:lnSpc>
                <a:spcPts val="11357"/>
              </a:lnSpc>
            </a:pPr>
            <a:r>
              <a:rPr lang="en-US" sz="11135" b="1">
                <a:solidFill>
                  <a:srgbClr val="0097B2"/>
                </a:solidFill>
                <a:latin typeface="Open Sauce Bold"/>
                <a:ea typeface="Open Sauce Bold"/>
                <a:cs typeface="Open Sauce Bold"/>
                <a:sym typeface="Open Sauce Bold"/>
              </a:rPr>
              <a:t>PULSE </a:t>
            </a:r>
          </a:p>
          <a:p>
            <a:pPr algn="ctr">
              <a:lnSpc>
                <a:spcPts val="11357"/>
              </a:lnSpc>
            </a:pPr>
            <a:r>
              <a:rPr lang="en-US" sz="11135" b="1">
                <a:solidFill>
                  <a:srgbClr val="0097B2"/>
                </a:solidFill>
                <a:latin typeface="Open Sauce Bold"/>
                <a:ea typeface="Open Sauce Bold"/>
                <a:cs typeface="Open Sauce Bold"/>
                <a:sym typeface="Open Sauce Bold"/>
              </a:rPr>
              <a:t>PATH</a:t>
            </a:r>
          </a:p>
        </p:txBody>
      </p:sp>
      <p:sp>
        <p:nvSpPr>
          <p:cNvPr id="3" name="Freeform 3"/>
          <p:cNvSpPr/>
          <p:nvPr/>
        </p:nvSpPr>
        <p:spPr>
          <a:xfrm>
            <a:off x="14048009" y="-741890"/>
            <a:ext cx="7315200" cy="3657600"/>
          </a:xfrm>
          <a:custGeom>
            <a:avLst/>
            <a:gdLst/>
            <a:ahLst/>
            <a:cxnLst/>
            <a:rect l="l" t="t" r="r" b="b"/>
            <a:pathLst>
              <a:path w="7315200" h="3657600">
                <a:moveTo>
                  <a:pt x="0" y="0"/>
                </a:moveTo>
                <a:lnTo>
                  <a:pt x="7315200" y="0"/>
                </a:lnTo>
                <a:lnTo>
                  <a:pt x="7315200" y="3657600"/>
                </a:lnTo>
                <a:lnTo>
                  <a:pt x="0" y="36576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4" name="Group 4"/>
          <p:cNvGrpSpPr/>
          <p:nvPr/>
        </p:nvGrpSpPr>
        <p:grpSpPr>
          <a:xfrm>
            <a:off x="16618699" y="-1086910"/>
            <a:ext cx="2173821" cy="2173821"/>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7D9C"/>
            </a:solidFill>
          </p:spPr>
          <p:txBody>
            <a:bodyPr/>
            <a:lstStyle/>
            <a:p>
              <a:endParaRPr lang="en-US"/>
            </a:p>
          </p:txBody>
        </p:sp>
        <p:sp>
          <p:nvSpPr>
            <p:cNvPr id="6" name="TextBox 6"/>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7" name="Freeform 7"/>
          <p:cNvSpPr/>
          <p:nvPr/>
        </p:nvSpPr>
        <p:spPr>
          <a:xfrm flipH="1">
            <a:off x="-1631347" y="6083524"/>
            <a:ext cx="5874518" cy="5874518"/>
          </a:xfrm>
          <a:custGeom>
            <a:avLst/>
            <a:gdLst/>
            <a:ahLst/>
            <a:cxnLst/>
            <a:rect l="l" t="t" r="r" b="b"/>
            <a:pathLst>
              <a:path w="5874518" h="5874518">
                <a:moveTo>
                  <a:pt x="5874518" y="0"/>
                </a:moveTo>
                <a:lnTo>
                  <a:pt x="0" y="0"/>
                </a:lnTo>
                <a:lnTo>
                  <a:pt x="0" y="5874518"/>
                </a:lnTo>
                <a:lnTo>
                  <a:pt x="5874518" y="5874518"/>
                </a:lnTo>
                <a:lnTo>
                  <a:pt x="5874518"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grpSp>
        <p:nvGrpSpPr>
          <p:cNvPr id="8" name="Group 8"/>
          <p:cNvGrpSpPr/>
          <p:nvPr/>
        </p:nvGrpSpPr>
        <p:grpSpPr>
          <a:xfrm>
            <a:off x="-1123584" y="5143500"/>
            <a:ext cx="2598841" cy="2598841"/>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5CCE2"/>
            </a:solidFill>
          </p:spPr>
          <p:txBody>
            <a:bodyPr/>
            <a:lstStyle/>
            <a:p>
              <a:endParaRPr lang="en-US"/>
            </a:p>
          </p:txBody>
        </p:sp>
        <p:sp>
          <p:nvSpPr>
            <p:cNvPr id="10" name="TextBox 10"/>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1" name="Freeform 11"/>
          <p:cNvSpPr/>
          <p:nvPr/>
        </p:nvSpPr>
        <p:spPr>
          <a:xfrm>
            <a:off x="15201900" y="7843242"/>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12" name="Freeform 12"/>
          <p:cNvSpPr/>
          <p:nvPr/>
        </p:nvSpPr>
        <p:spPr>
          <a:xfrm>
            <a:off x="-1856863" y="-1795549"/>
            <a:ext cx="7315200" cy="3591098"/>
          </a:xfrm>
          <a:custGeom>
            <a:avLst/>
            <a:gdLst/>
            <a:ahLst/>
            <a:cxnLst/>
            <a:rect l="l" t="t" r="r" b="b"/>
            <a:pathLst>
              <a:path w="7315200" h="3591098">
                <a:moveTo>
                  <a:pt x="0" y="0"/>
                </a:moveTo>
                <a:lnTo>
                  <a:pt x="7315200" y="0"/>
                </a:lnTo>
                <a:lnTo>
                  <a:pt x="7315200" y="3591098"/>
                </a:lnTo>
                <a:lnTo>
                  <a:pt x="0" y="3591098"/>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13" name="TextBox 13"/>
          <p:cNvSpPr txBox="1"/>
          <p:nvPr/>
        </p:nvSpPr>
        <p:spPr>
          <a:xfrm>
            <a:off x="5088883" y="4571672"/>
            <a:ext cx="8379924" cy="1162706"/>
          </a:xfrm>
          <a:prstGeom prst="rect">
            <a:avLst/>
          </a:prstGeom>
        </p:spPr>
        <p:txBody>
          <a:bodyPr lIns="0" tIns="0" rIns="0" bIns="0" rtlCol="0" anchor="t">
            <a:spAutoFit/>
          </a:bodyPr>
          <a:lstStyle/>
          <a:p>
            <a:pPr algn="ctr">
              <a:lnSpc>
                <a:spcPts val="4598"/>
              </a:lnSpc>
            </a:pPr>
            <a:r>
              <a:rPr lang="en-US" sz="3999">
                <a:solidFill>
                  <a:srgbClr val="007D9C"/>
                </a:solidFill>
                <a:latin typeface="Open Sauce"/>
                <a:ea typeface="Open Sauce"/>
                <a:cs typeface="Open Sauce"/>
                <a:sym typeface="Open Sauce"/>
              </a:rPr>
              <a:t>Transforming Festivals, One Crowd at a Time</a:t>
            </a:r>
          </a:p>
        </p:txBody>
      </p:sp>
      <p:sp>
        <p:nvSpPr>
          <p:cNvPr id="14" name="TextBox 14"/>
          <p:cNvSpPr txBox="1"/>
          <p:nvPr/>
        </p:nvSpPr>
        <p:spPr>
          <a:xfrm>
            <a:off x="6704490" y="6739322"/>
            <a:ext cx="5148709" cy="2954401"/>
          </a:xfrm>
          <a:prstGeom prst="rect">
            <a:avLst/>
          </a:prstGeom>
        </p:spPr>
        <p:txBody>
          <a:bodyPr lIns="0" tIns="0" rIns="0" bIns="0" rtlCol="0" anchor="t">
            <a:spAutoFit/>
          </a:bodyPr>
          <a:lstStyle/>
          <a:p>
            <a:pPr algn="ctr">
              <a:lnSpc>
                <a:spcPts val="4507"/>
              </a:lnSpc>
            </a:pPr>
            <a:r>
              <a:rPr lang="en-US" sz="3219">
                <a:solidFill>
                  <a:srgbClr val="007D9C"/>
                </a:solidFill>
                <a:latin typeface="Open Sans"/>
                <a:ea typeface="Open Sans"/>
                <a:cs typeface="Open Sans"/>
                <a:sym typeface="Open Sans"/>
              </a:rPr>
              <a:t>Zeynep Altintas - 21368321</a:t>
            </a:r>
          </a:p>
          <a:p>
            <a:pPr algn="ctr">
              <a:lnSpc>
                <a:spcPts val="4507"/>
              </a:lnSpc>
            </a:pPr>
            <a:r>
              <a:rPr lang="en-US" sz="3219">
                <a:solidFill>
                  <a:srgbClr val="007D9C"/>
                </a:solidFill>
                <a:latin typeface="Open Sans"/>
                <a:ea typeface="Open Sans"/>
                <a:cs typeface="Open Sans"/>
                <a:sym typeface="Open Sans"/>
              </a:rPr>
              <a:t>Lizel Sulaj - 21389526</a:t>
            </a:r>
          </a:p>
          <a:p>
            <a:pPr algn="ctr">
              <a:lnSpc>
                <a:spcPts val="4507"/>
              </a:lnSpc>
            </a:pPr>
            <a:endParaRPr lang="en-US" sz="3219">
              <a:solidFill>
                <a:srgbClr val="007D9C"/>
              </a:solidFill>
              <a:latin typeface="Open Sans"/>
              <a:ea typeface="Open Sans"/>
              <a:cs typeface="Open Sans"/>
              <a:sym typeface="Open Sans"/>
            </a:endParaRPr>
          </a:p>
          <a:p>
            <a:pPr algn="ctr">
              <a:lnSpc>
                <a:spcPts val="4507"/>
              </a:lnSpc>
            </a:pPr>
            <a:r>
              <a:rPr lang="en-US" sz="3219">
                <a:solidFill>
                  <a:srgbClr val="007D9C"/>
                </a:solidFill>
                <a:latin typeface="Open Sans"/>
                <a:ea typeface="Open Sans"/>
                <a:cs typeface="Open Sans"/>
                <a:sym typeface="Open Sans"/>
              </a:rPr>
              <a:t>Supervisor - Paul Clarke</a:t>
            </a:r>
          </a:p>
          <a:p>
            <a:pPr algn="ctr">
              <a:lnSpc>
                <a:spcPts val="2659"/>
              </a:lnSpc>
            </a:pPr>
            <a:endParaRPr lang="en-US" sz="3219">
              <a:solidFill>
                <a:srgbClr val="007D9C"/>
              </a:solidFill>
              <a:latin typeface="Open Sans"/>
              <a:ea typeface="Open Sans"/>
              <a:cs typeface="Open Sans"/>
              <a:sym typeface="Open Sans"/>
            </a:endParaRPr>
          </a:p>
          <a:p>
            <a:pPr algn="ctr">
              <a:lnSpc>
                <a:spcPts val="2659"/>
              </a:lnSpc>
              <a:spcBef>
                <a:spcPct val="0"/>
              </a:spcBef>
            </a:pPr>
            <a:endParaRPr lang="en-US" sz="3219">
              <a:solidFill>
                <a:srgbClr val="007D9C"/>
              </a:solidFill>
              <a:latin typeface="Open Sans"/>
              <a:ea typeface="Open Sans"/>
              <a:cs typeface="Open Sans"/>
              <a:sym typeface="Open Sa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5443283" y="-800100"/>
            <a:ext cx="5160004" cy="2580002"/>
          </a:xfrm>
          <a:custGeom>
            <a:avLst/>
            <a:gdLst/>
            <a:ahLst/>
            <a:cxnLst/>
            <a:rect l="l" t="t" r="r" b="b"/>
            <a:pathLst>
              <a:path w="5160004" h="2580002">
                <a:moveTo>
                  <a:pt x="0" y="0"/>
                </a:moveTo>
                <a:lnTo>
                  <a:pt x="5160004" y="0"/>
                </a:lnTo>
                <a:lnTo>
                  <a:pt x="5160004" y="2580002"/>
                </a:lnTo>
                <a:lnTo>
                  <a:pt x="0" y="258000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3" name="Freeform 3"/>
          <p:cNvSpPr/>
          <p:nvPr/>
        </p:nvSpPr>
        <p:spPr>
          <a:xfrm flipH="1">
            <a:off x="-2113797" y="7730448"/>
            <a:ext cx="4227594" cy="4227594"/>
          </a:xfrm>
          <a:custGeom>
            <a:avLst/>
            <a:gdLst/>
            <a:ahLst/>
            <a:cxnLst/>
            <a:rect l="l" t="t" r="r" b="b"/>
            <a:pathLst>
              <a:path w="4227594" h="4227594">
                <a:moveTo>
                  <a:pt x="4227594" y="0"/>
                </a:moveTo>
                <a:lnTo>
                  <a:pt x="0" y="0"/>
                </a:lnTo>
                <a:lnTo>
                  <a:pt x="0" y="4227594"/>
                </a:lnTo>
                <a:lnTo>
                  <a:pt x="4227594" y="4227594"/>
                </a:lnTo>
                <a:lnTo>
                  <a:pt x="4227594"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4" name="Freeform 4"/>
          <p:cNvSpPr/>
          <p:nvPr/>
        </p:nvSpPr>
        <p:spPr>
          <a:xfrm>
            <a:off x="15965885" y="8442484"/>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grpSp>
        <p:nvGrpSpPr>
          <p:cNvPr id="5" name="Group 5"/>
          <p:cNvGrpSpPr/>
          <p:nvPr/>
        </p:nvGrpSpPr>
        <p:grpSpPr>
          <a:xfrm>
            <a:off x="17725378" y="7205127"/>
            <a:ext cx="2053173" cy="205317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5CCE2"/>
            </a:solidFill>
          </p:spPr>
          <p:txBody>
            <a:bodyPr/>
            <a:lstStyle/>
            <a:p>
              <a:endParaRPr lang="en-US"/>
            </a:p>
          </p:txBody>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a:off x="-3285545" y="-800100"/>
            <a:ext cx="5816717" cy="2855479"/>
          </a:xfrm>
          <a:custGeom>
            <a:avLst/>
            <a:gdLst/>
            <a:ahLst/>
            <a:cxnLst/>
            <a:rect l="l" t="t" r="r" b="b"/>
            <a:pathLst>
              <a:path w="5816717" h="2855479">
                <a:moveTo>
                  <a:pt x="0" y="0"/>
                </a:moveTo>
                <a:lnTo>
                  <a:pt x="5816717" y="0"/>
                </a:lnTo>
                <a:lnTo>
                  <a:pt x="5816717" y="2855479"/>
                </a:lnTo>
                <a:lnTo>
                  <a:pt x="0" y="2855479"/>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US"/>
          </a:p>
        </p:txBody>
      </p:sp>
      <p:grpSp>
        <p:nvGrpSpPr>
          <p:cNvPr id="9" name="Group 9"/>
          <p:cNvGrpSpPr/>
          <p:nvPr/>
        </p:nvGrpSpPr>
        <p:grpSpPr>
          <a:xfrm>
            <a:off x="-638476" y="1080055"/>
            <a:ext cx="1399693" cy="139969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7D9C"/>
            </a:solidFill>
          </p:spPr>
          <p:txBody>
            <a:bodyPr/>
            <a:lstStyle/>
            <a:p>
              <a:endParaRPr lang="en-US"/>
            </a:p>
          </p:txBody>
        </p:sp>
        <p:sp>
          <p:nvSpPr>
            <p:cNvPr id="11" name="TextBox 11"/>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p:cNvSpPr txBox="1"/>
          <p:nvPr/>
        </p:nvSpPr>
        <p:spPr>
          <a:xfrm>
            <a:off x="2672484" y="2622708"/>
            <a:ext cx="12897806" cy="7201233"/>
          </a:xfrm>
          <a:prstGeom prst="rect">
            <a:avLst/>
          </a:prstGeom>
        </p:spPr>
        <p:txBody>
          <a:bodyPr lIns="0" tIns="0" rIns="0" bIns="0" rtlCol="0" anchor="t">
            <a:spAutoFit/>
          </a:bodyPr>
          <a:lstStyle/>
          <a:p>
            <a:pPr algn="l">
              <a:lnSpc>
                <a:spcPts val="3266"/>
              </a:lnSpc>
            </a:pPr>
            <a:r>
              <a:rPr lang="en-US" sz="2840" b="1">
                <a:solidFill>
                  <a:srgbClr val="007D9C"/>
                </a:solidFill>
                <a:latin typeface="Open Sauce Bold"/>
                <a:ea typeface="Open Sauce Bold"/>
                <a:cs typeface="Open Sauce Bold"/>
                <a:sym typeface="Open Sauce Bold"/>
              </a:rPr>
              <a:t>Real-time crowd tracking at festivals.</a:t>
            </a:r>
          </a:p>
          <a:p>
            <a:pPr algn="l">
              <a:lnSpc>
                <a:spcPts val="3266"/>
              </a:lnSpc>
            </a:pPr>
            <a:endParaRPr lang="en-US" sz="2840" b="1">
              <a:solidFill>
                <a:srgbClr val="007D9C"/>
              </a:solidFill>
              <a:latin typeface="Open Sauce Bold"/>
              <a:ea typeface="Open Sauce Bold"/>
              <a:cs typeface="Open Sauce Bold"/>
              <a:sym typeface="Open Sauce Bold"/>
            </a:endParaRPr>
          </a:p>
          <a:p>
            <a:pPr algn="l">
              <a:lnSpc>
                <a:spcPts val="3266"/>
              </a:lnSpc>
            </a:pPr>
            <a:r>
              <a:rPr lang="en-US" sz="2840" b="1">
                <a:solidFill>
                  <a:srgbClr val="007D9C"/>
                </a:solidFill>
                <a:latin typeface="Open Sauce Bold"/>
                <a:ea typeface="Open Sauce Bold"/>
                <a:cs typeface="Open Sauce Bold"/>
                <a:sym typeface="Open Sauce Bold"/>
              </a:rPr>
              <a:t>Live updates based on crowd density.</a:t>
            </a:r>
          </a:p>
          <a:p>
            <a:pPr algn="l">
              <a:lnSpc>
                <a:spcPts val="3266"/>
              </a:lnSpc>
            </a:pPr>
            <a:endParaRPr lang="en-US" sz="2840" b="1">
              <a:solidFill>
                <a:srgbClr val="007D9C"/>
              </a:solidFill>
              <a:latin typeface="Open Sauce Bold"/>
              <a:ea typeface="Open Sauce Bold"/>
              <a:cs typeface="Open Sauce Bold"/>
              <a:sym typeface="Open Sauce Bold"/>
            </a:endParaRPr>
          </a:p>
          <a:p>
            <a:pPr algn="l">
              <a:lnSpc>
                <a:spcPts val="3266"/>
              </a:lnSpc>
            </a:pPr>
            <a:r>
              <a:rPr lang="en-US" sz="2840" b="1">
                <a:solidFill>
                  <a:srgbClr val="007D9C"/>
                </a:solidFill>
                <a:latin typeface="Open Sauce Bold"/>
                <a:ea typeface="Open Sauce Bold"/>
                <a:cs typeface="Open Sauce Bold"/>
                <a:sym typeface="Open Sauce Bold"/>
              </a:rPr>
              <a:t>Proposed to enhance the overall festival experience.</a:t>
            </a:r>
          </a:p>
          <a:p>
            <a:pPr algn="l">
              <a:lnSpc>
                <a:spcPts val="3266"/>
              </a:lnSpc>
            </a:pPr>
            <a:endParaRPr lang="en-US" sz="2840" b="1">
              <a:solidFill>
                <a:srgbClr val="007D9C"/>
              </a:solidFill>
              <a:latin typeface="Open Sauce Bold"/>
              <a:ea typeface="Open Sauce Bold"/>
              <a:cs typeface="Open Sauce Bold"/>
              <a:sym typeface="Open Sauce Bold"/>
            </a:endParaRPr>
          </a:p>
          <a:p>
            <a:pPr algn="l">
              <a:lnSpc>
                <a:spcPts val="3266"/>
              </a:lnSpc>
            </a:pPr>
            <a:r>
              <a:rPr lang="en-US" sz="2840" b="1">
                <a:solidFill>
                  <a:srgbClr val="007D9C"/>
                </a:solidFill>
                <a:latin typeface="Open Sauce Bold"/>
                <a:ea typeface="Open Sauce Bold"/>
                <a:cs typeface="Open Sauce Bold"/>
                <a:sym typeface="Open Sauce Bold"/>
              </a:rPr>
              <a:t>Reduces frustration caused by long wait times and overcrowding at facilities.</a:t>
            </a:r>
          </a:p>
          <a:p>
            <a:pPr algn="l">
              <a:lnSpc>
                <a:spcPts val="3266"/>
              </a:lnSpc>
            </a:pPr>
            <a:endParaRPr lang="en-US" sz="2840" b="1">
              <a:solidFill>
                <a:srgbClr val="007D9C"/>
              </a:solidFill>
              <a:latin typeface="Open Sauce Bold"/>
              <a:ea typeface="Open Sauce Bold"/>
              <a:cs typeface="Open Sauce Bold"/>
              <a:sym typeface="Open Sauce Bold"/>
            </a:endParaRPr>
          </a:p>
          <a:p>
            <a:pPr algn="l">
              <a:lnSpc>
                <a:spcPts val="3266"/>
              </a:lnSpc>
            </a:pPr>
            <a:r>
              <a:rPr lang="en-US" sz="2840" b="1">
                <a:solidFill>
                  <a:srgbClr val="007D9C"/>
                </a:solidFill>
                <a:latin typeface="Open Sauce Bold"/>
                <a:ea typeface="Open Sauce Bold"/>
                <a:cs typeface="Open Sauce Bold"/>
                <a:sym typeface="Open Sauce Bold"/>
              </a:rPr>
              <a:t>Includes features like real-time navigation assistance</a:t>
            </a:r>
          </a:p>
          <a:p>
            <a:pPr algn="l">
              <a:lnSpc>
                <a:spcPts val="3266"/>
              </a:lnSpc>
            </a:pPr>
            <a:endParaRPr lang="en-US" sz="2840" b="1">
              <a:solidFill>
                <a:srgbClr val="007D9C"/>
              </a:solidFill>
              <a:latin typeface="Open Sauce Bold"/>
              <a:ea typeface="Open Sauce Bold"/>
              <a:cs typeface="Open Sauce Bold"/>
              <a:sym typeface="Open Sauce Bold"/>
            </a:endParaRPr>
          </a:p>
          <a:p>
            <a:pPr algn="l">
              <a:lnSpc>
                <a:spcPts val="3266"/>
              </a:lnSpc>
            </a:pPr>
            <a:r>
              <a:rPr lang="en-US" sz="2840" b="1">
                <a:solidFill>
                  <a:srgbClr val="007D9C"/>
                </a:solidFill>
                <a:latin typeface="Open Sauce Bold"/>
                <a:ea typeface="Open Sauce Bold"/>
                <a:cs typeface="Open Sauce Bold"/>
                <a:sym typeface="Open Sauce Bold"/>
              </a:rPr>
              <a:t>Guides attendees to less crowded areas, improving their experience.</a:t>
            </a:r>
          </a:p>
          <a:p>
            <a:pPr algn="l">
              <a:lnSpc>
                <a:spcPts val="3266"/>
              </a:lnSpc>
            </a:pPr>
            <a:endParaRPr lang="en-US" sz="2840" b="1">
              <a:solidFill>
                <a:srgbClr val="007D9C"/>
              </a:solidFill>
              <a:latin typeface="Open Sauce Bold"/>
              <a:ea typeface="Open Sauce Bold"/>
              <a:cs typeface="Open Sauce Bold"/>
              <a:sym typeface="Open Sauce Bold"/>
            </a:endParaRPr>
          </a:p>
          <a:p>
            <a:pPr algn="l">
              <a:lnSpc>
                <a:spcPts val="3266"/>
              </a:lnSpc>
            </a:pPr>
            <a:r>
              <a:rPr lang="en-US" sz="2840" b="1">
                <a:solidFill>
                  <a:srgbClr val="007D9C"/>
                </a:solidFill>
                <a:latin typeface="Open Sauce Bold"/>
                <a:ea typeface="Open Sauce Bold"/>
                <a:cs typeface="Open Sauce Bold"/>
                <a:sym typeface="Open Sauce Bold"/>
              </a:rPr>
              <a:t>Aims to support festival organisers in efficient crowd management</a:t>
            </a:r>
          </a:p>
          <a:p>
            <a:pPr algn="l">
              <a:lnSpc>
                <a:spcPts val="3266"/>
              </a:lnSpc>
            </a:pPr>
            <a:endParaRPr lang="en-US" sz="2840" b="1">
              <a:solidFill>
                <a:srgbClr val="007D9C"/>
              </a:solidFill>
              <a:latin typeface="Open Sauce Bold"/>
              <a:ea typeface="Open Sauce Bold"/>
              <a:cs typeface="Open Sauce Bold"/>
              <a:sym typeface="Open Sauce Bold"/>
            </a:endParaRPr>
          </a:p>
          <a:p>
            <a:pPr algn="l">
              <a:lnSpc>
                <a:spcPts val="4142"/>
              </a:lnSpc>
            </a:pPr>
            <a:endParaRPr lang="en-US" sz="2840" b="1">
              <a:solidFill>
                <a:srgbClr val="007D9C"/>
              </a:solidFill>
              <a:latin typeface="Open Sauce Bold"/>
              <a:ea typeface="Open Sauce Bold"/>
              <a:cs typeface="Open Sauce Bold"/>
              <a:sym typeface="Open Sauce Bold"/>
            </a:endParaRPr>
          </a:p>
          <a:p>
            <a:pPr algn="l">
              <a:lnSpc>
                <a:spcPts val="4142"/>
              </a:lnSpc>
            </a:pPr>
            <a:endParaRPr lang="en-US" sz="2840" b="1">
              <a:solidFill>
                <a:srgbClr val="007D9C"/>
              </a:solidFill>
              <a:latin typeface="Open Sauce Bold"/>
              <a:ea typeface="Open Sauce Bold"/>
              <a:cs typeface="Open Sauce Bold"/>
              <a:sym typeface="Open Sauce Bold"/>
            </a:endParaRPr>
          </a:p>
        </p:txBody>
      </p:sp>
      <p:sp>
        <p:nvSpPr>
          <p:cNvPr id="13" name="TextBox 13"/>
          <p:cNvSpPr txBox="1"/>
          <p:nvPr/>
        </p:nvSpPr>
        <p:spPr>
          <a:xfrm>
            <a:off x="4076315" y="604201"/>
            <a:ext cx="9821825" cy="917233"/>
          </a:xfrm>
          <a:prstGeom prst="rect">
            <a:avLst/>
          </a:prstGeom>
        </p:spPr>
        <p:txBody>
          <a:bodyPr lIns="0" tIns="0" rIns="0" bIns="0" rtlCol="0" anchor="t">
            <a:spAutoFit/>
          </a:bodyPr>
          <a:lstStyle/>
          <a:p>
            <a:pPr algn="ctr">
              <a:lnSpc>
                <a:spcPts val="6926"/>
              </a:lnSpc>
            </a:pPr>
            <a:r>
              <a:rPr lang="en-US" sz="6790" b="1">
                <a:solidFill>
                  <a:srgbClr val="0097B2"/>
                </a:solidFill>
                <a:latin typeface="Open Sauce Heavy"/>
                <a:ea typeface="Open Sauce Heavy"/>
                <a:cs typeface="Open Sauce Heavy"/>
                <a:sym typeface="Open Sauce Heavy"/>
              </a:rPr>
              <a:t>PROJECT SUMMARY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297025" y="929934"/>
            <a:ext cx="9693949" cy="849968"/>
          </a:xfrm>
          <a:prstGeom prst="rect">
            <a:avLst/>
          </a:prstGeom>
        </p:spPr>
        <p:txBody>
          <a:bodyPr lIns="0" tIns="0" rIns="0" bIns="0" rtlCol="0" anchor="t">
            <a:spAutoFit/>
          </a:bodyPr>
          <a:lstStyle/>
          <a:p>
            <a:pPr algn="ctr">
              <a:lnSpc>
                <a:spcPts val="6475"/>
              </a:lnSpc>
            </a:pPr>
            <a:r>
              <a:rPr lang="en-US" sz="6348" b="1">
                <a:solidFill>
                  <a:srgbClr val="0097B2"/>
                </a:solidFill>
                <a:latin typeface="Open Sauce Heavy"/>
                <a:ea typeface="Open Sauce Heavy"/>
                <a:cs typeface="Open Sauce Heavy"/>
                <a:sym typeface="Open Sauce Heavy"/>
              </a:rPr>
              <a:t>MARKET RATIONALE</a:t>
            </a:r>
          </a:p>
        </p:txBody>
      </p:sp>
      <p:sp>
        <p:nvSpPr>
          <p:cNvPr id="3" name="Freeform 3"/>
          <p:cNvSpPr/>
          <p:nvPr/>
        </p:nvSpPr>
        <p:spPr>
          <a:xfrm>
            <a:off x="15443283" y="-800100"/>
            <a:ext cx="5160004" cy="2580002"/>
          </a:xfrm>
          <a:custGeom>
            <a:avLst/>
            <a:gdLst/>
            <a:ahLst/>
            <a:cxnLst/>
            <a:rect l="l" t="t" r="r" b="b"/>
            <a:pathLst>
              <a:path w="5160004" h="2580002">
                <a:moveTo>
                  <a:pt x="0" y="0"/>
                </a:moveTo>
                <a:lnTo>
                  <a:pt x="5160004" y="0"/>
                </a:lnTo>
                <a:lnTo>
                  <a:pt x="5160004" y="2580002"/>
                </a:lnTo>
                <a:lnTo>
                  <a:pt x="0" y="258000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4" name="Freeform 4"/>
          <p:cNvSpPr/>
          <p:nvPr/>
        </p:nvSpPr>
        <p:spPr>
          <a:xfrm flipH="1">
            <a:off x="-2052426" y="7510707"/>
            <a:ext cx="4227594" cy="4227594"/>
          </a:xfrm>
          <a:custGeom>
            <a:avLst/>
            <a:gdLst/>
            <a:ahLst/>
            <a:cxnLst/>
            <a:rect l="l" t="t" r="r" b="b"/>
            <a:pathLst>
              <a:path w="4227594" h="4227594">
                <a:moveTo>
                  <a:pt x="4227593" y="0"/>
                </a:moveTo>
                <a:lnTo>
                  <a:pt x="0" y="0"/>
                </a:lnTo>
                <a:lnTo>
                  <a:pt x="0" y="4227594"/>
                </a:lnTo>
                <a:lnTo>
                  <a:pt x="4227593" y="4227594"/>
                </a:lnTo>
                <a:lnTo>
                  <a:pt x="4227593"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5" name="Freeform 5"/>
          <p:cNvSpPr/>
          <p:nvPr/>
        </p:nvSpPr>
        <p:spPr>
          <a:xfrm>
            <a:off x="15965885" y="8757035"/>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grpSp>
        <p:nvGrpSpPr>
          <p:cNvPr id="6" name="Group 6"/>
          <p:cNvGrpSpPr/>
          <p:nvPr/>
        </p:nvGrpSpPr>
        <p:grpSpPr>
          <a:xfrm>
            <a:off x="18023285" y="7730448"/>
            <a:ext cx="2053173" cy="2053173"/>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5CCE2"/>
            </a:solidFill>
          </p:spPr>
          <p:txBody>
            <a:bodyPr/>
            <a:lstStyle/>
            <a:p>
              <a:endParaRPr lang="en-US"/>
            </a:p>
          </p:txBody>
        </p:sp>
        <p:sp>
          <p:nvSpPr>
            <p:cNvPr id="8" name="TextBox 8"/>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p:cNvSpPr/>
          <p:nvPr/>
        </p:nvSpPr>
        <p:spPr>
          <a:xfrm>
            <a:off x="-3285545" y="-800100"/>
            <a:ext cx="5816717" cy="2855479"/>
          </a:xfrm>
          <a:custGeom>
            <a:avLst/>
            <a:gdLst/>
            <a:ahLst/>
            <a:cxnLst/>
            <a:rect l="l" t="t" r="r" b="b"/>
            <a:pathLst>
              <a:path w="5816717" h="2855479">
                <a:moveTo>
                  <a:pt x="0" y="0"/>
                </a:moveTo>
                <a:lnTo>
                  <a:pt x="5816717" y="0"/>
                </a:lnTo>
                <a:lnTo>
                  <a:pt x="5816717" y="2855479"/>
                </a:lnTo>
                <a:lnTo>
                  <a:pt x="0" y="2855479"/>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10" name="TextBox 10"/>
          <p:cNvSpPr txBox="1"/>
          <p:nvPr/>
        </p:nvSpPr>
        <p:spPr>
          <a:xfrm>
            <a:off x="2550339" y="3174117"/>
            <a:ext cx="12685229" cy="5696036"/>
          </a:xfrm>
          <a:prstGeom prst="rect">
            <a:avLst/>
          </a:prstGeom>
        </p:spPr>
        <p:txBody>
          <a:bodyPr lIns="0" tIns="0" rIns="0" bIns="0" rtlCol="0" anchor="t">
            <a:spAutoFit/>
          </a:bodyPr>
          <a:lstStyle/>
          <a:p>
            <a:pPr algn="l">
              <a:lnSpc>
                <a:spcPts val="3465"/>
              </a:lnSpc>
            </a:pPr>
            <a:r>
              <a:rPr lang="en-US" sz="3013" b="1">
                <a:solidFill>
                  <a:srgbClr val="007D9C"/>
                </a:solidFill>
                <a:latin typeface="Open Sauce Bold"/>
                <a:ea typeface="Open Sauce Bold"/>
                <a:cs typeface="Open Sauce Bold"/>
                <a:sym typeface="Open Sauce Bold"/>
              </a:rPr>
              <a:t>Target Market Size:  Attendees across all major music festivals in Ireland: 238,000 people. First year, 20% = 47,600 users</a:t>
            </a:r>
          </a:p>
          <a:p>
            <a:pPr algn="l">
              <a:lnSpc>
                <a:spcPts val="3465"/>
              </a:lnSpc>
            </a:pPr>
            <a:endParaRPr lang="en-US" sz="3013" b="1">
              <a:solidFill>
                <a:srgbClr val="007D9C"/>
              </a:solidFill>
              <a:latin typeface="Open Sauce Bold"/>
              <a:ea typeface="Open Sauce Bold"/>
              <a:cs typeface="Open Sauce Bold"/>
              <a:sym typeface="Open Sauce Bold"/>
            </a:endParaRPr>
          </a:p>
          <a:p>
            <a:pPr algn="l">
              <a:lnSpc>
                <a:spcPts val="3465"/>
              </a:lnSpc>
            </a:pPr>
            <a:r>
              <a:rPr lang="en-US" sz="3013" b="1">
                <a:solidFill>
                  <a:srgbClr val="007D9C"/>
                </a:solidFill>
                <a:latin typeface="Open Sauce Bold"/>
                <a:ea typeface="Open Sauce Bold"/>
                <a:cs typeface="Open Sauce Bold"/>
                <a:sym typeface="Open Sauce Bold"/>
              </a:rPr>
              <a:t>Customer Segments: </a:t>
            </a:r>
          </a:p>
          <a:p>
            <a:pPr marL="650613" lvl="1" indent="-325307" algn="l">
              <a:lnSpc>
                <a:spcPts val="3465"/>
              </a:lnSpc>
              <a:buFont typeface="Arial"/>
              <a:buChar char="•"/>
            </a:pPr>
            <a:r>
              <a:rPr lang="en-US" sz="3013" b="1">
                <a:solidFill>
                  <a:srgbClr val="007D9C"/>
                </a:solidFill>
                <a:latin typeface="Open Sauce Bold"/>
                <a:ea typeface="Open Sauce Bold"/>
                <a:cs typeface="Open Sauce Bold"/>
                <a:sym typeface="Open Sauce Bold"/>
              </a:rPr>
              <a:t>Festival organisers</a:t>
            </a:r>
          </a:p>
          <a:p>
            <a:pPr marL="650613" lvl="1" indent="-325307" algn="l">
              <a:lnSpc>
                <a:spcPts val="3465"/>
              </a:lnSpc>
              <a:buFont typeface="Arial"/>
              <a:buChar char="•"/>
            </a:pPr>
            <a:r>
              <a:rPr lang="en-US" sz="3013" b="1">
                <a:solidFill>
                  <a:srgbClr val="007D9C"/>
                </a:solidFill>
                <a:latin typeface="Open Sauce Bold"/>
                <a:ea typeface="Open Sauce Bold"/>
                <a:cs typeface="Open Sauce Bold"/>
                <a:sym typeface="Open Sauce Bold"/>
              </a:rPr>
              <a:t>Festival attendees </a:t>
            </a:r>
          </a:p>
          <a:p>
            <a:pPr algn="l">
              <a:lnSpc>
                <a:spcPts val="3465"/>
              </a:lnSpc>
            </a:pPr>
            <a:endParaRPr lang="en-US" sz="3013" b="1">
              <a:solidFill>
                <a:srgbClr val="007D9C"/>
              </a:solidFill>
              <a:latin typeface="Open Sauce Bold"/>
              <a:ea typeface="Open Sauce Bold"/>
              <a:cs typeface="Open Sauce Bold"/>
              <a:sym typeface="Open Sauce Bold"/>
            </a:endParaRPr>
          </a:p>
          <a:p>
            <a:pPr algn="l">
              <a:lnSpc>
                <a:spcPts val="3465"/>
              </a:lnSpc>
            </a:pPr>
            <a:r>
              <a:rPr lang="en-US" sz="3013" b="1">
                <a:solidFill>
                  <a:srgbClr val="007D9C"/>
                </a:solidFill>
                <a:latin typeface="Open Sauce Bold"/>
                <a:ea typeface="Open Sauce Bold"/>
                <a:cs typeface="Open Sauce Bold"/>
                <a:sym typeface="Open Sauce Bold"/>
              </a:rPr>
              <a:t>Main Value Proposition:</a:t>
            </a:r>
          </a:p>
          <a:p>
            <a:pPr marL="650613" lvl="1" indent="-325307" algn="l">
              <a:lnSpc>
                <a:spcPts val="3465"/>
              </a:lnSpc>
              <a:buFont typeface="Arial"/>
              <a:buChar char="•"/>
            </a:pPr>
            <a:r>
              <a:rPr lang="en-US" sz="3013" b="1">
                <a:solidFill>
                  <a:srgbClr val="007D9C"/>
                </a:solidFill>
                <a:latin typeface="Open Sauce Bold"/>
                <a:ea typeface="Open Sauce Bold"/>
                <a:cs typeface="Open Sauce Bold"/>
                <a:sym typeface="Open Sauce Bold"/>
              </a:rPr>
              <a:t>Festival organisers who want to reduce crowd congestion, improve safety and event operations.</a:t>
            </a:r>
          </a:p>
          <a:p>
            <a:pPr marL="650613" lvl="1" indent="-325307" algn="l">
              <a:lnSpc>
                <a:spcPts val="3465"/>
              </a:lnSpc>
              <a:buFont typeface="Arial"/>
              <a:buChar char="•"/>
            </a:pPr>
            <a:r>
              <a:rPr lang="en-US" sz="3013" b="1">
                <a:solidFill>
                  <a:srgbClr val="007D9C"/>
                </a:solidFill>
                <a:latin typeface="Open Sauce Bold"/>
                <a:ea typeface="Open Sauce Bold"/>
                <a:cs typeface="Open Sauce Bold"/>
                <a:sym typeface="Open Sauce Bold"/>
              </a:rPr>
              <a:t>Festival attendees that want to make the most of their experience.</a:t>
            </a:r>
          </a:p>
          <a:p>
            <a:pPr algn="l">
              <a:lnSpc>
                <a:spcPts val="3465"/>
              </a:lnSpc>
            </a:pPr>
            <a:endParaRPr lang="en-US" sz="3013" b="1">
              <a:solidFill>
                <a:srgbClr val="007D9C"/>
              </a:solidFill>
              <a:latin typeface="Open Sauce Bold"/>
              <a:ea typeface="Open Sauce Bold"/>
              <a:cs typeface="Open Sauce Bold"/>
              <a:sym typeface="Open Sauce Bold"/>
            </a:endParaRPr>
          </a:p>
        </p:txBody>
      </p:sp>
      <p:grpSp>
        <p:nvGrpSpPr>
          <p:cNvPr id="11" name="Group 11"/>
          <p:cNvGrpSpPr/>
          <p:nvPr/>
        </p:nvGrpSpPr>
        <p:grpSpPr>
          <a:xfrm>
            <a:off x="-638476" y="1080055"/>
            <a:ext cx="1399693" cy="139969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7D9C"/>
            </a:solidFill>
          </p:spPr>
          <p:txBody>
            <a:bodyPr/>
            <a:lstStyle/>
            <a:p>
              <a:endParaRPr lang="en-US"/>
            </a:p>
          </p:txBody>
        </p:sp>
        <p:sp>
          <p:nvSpPr>
            <p:cNvPr id="13" name="TextBox 13"/>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439067" y="713365"/>
            <a:ext cx="8886316" cy="1304268"/>
          </a:xfrm>
          <a:prstGeom prst="rect">
            <a:avLst/>
          </a:prstGeom>
        </p:spPr>
        <p:txBody>
          <a:bodyPr lIns="0" tIns="0" rIns="0" bIns="0" rtlCol="0" anchor="t">
            <a:spAutoFit/>
          </a:bodyPr>
          <a:lstStyle/>
          <a:p>
            <a:pPr algn="ctr">
              <a:lnSpc>
                <a:spcPts val="5070"/>
              </a:lnSpc>
            </a:pPr>
            <a:r>
              <a:rPr lang="en-US" sz="4971" b="1">
                <a:solidFill>
                  <a:srgbClr val="0097B2"/>
                </a:solidFill>
                <a:latin typeface="Open Sauce Heavy"/>
                <a:ea typeface="Open Sauce Heavy"/>
                <a:cs typeface="Open Sauce Heavy"/>
                <a:sym typeface="Open Sauce Heavy"/>
              </a:rPr>
              <a:t>PRIMARY &amp; SECONDARY RESEARCH</a:t>
            </a:r>
          </a:p>
        </p:txBody>
      </p:sp>
      <p:sp>
        <p:nvSpPr>
          <p:cNvPr id="3" name="Freeform 3"/>
          <p:cNvSpPr/>
          <p:nvPr/>
        </p:nvSpPr>
        <p:spPr>
          <a:xfrm>
            <a:off x="15443283" y="-800100"/>
            <a:ext cx="5160004" cy="2580002"/>
          </a:xfrm>
          <a:custGeom>
            <a:avLst/>
            <a:gdLst/>
            <a:ahLst/>
            <a:cxnLst/>
            <a:rect l="l" t="t" r="r" b="b"/>
            <a:pathLst>
              <a:path w="5160004" h="2580002">
                <a:moveTo>
                  <a:pt x="0" y="0"/>
                </a:moveTo>
                <a:lnTo>
                  <a:pt x="5160004" y="0"/>
                </a:lnTo>
                <a:lnTo>
                  <a:pt x="5160004" y="2580002"/>
                </a:lnTo>
                <a:lnTo>
                  <a:pt x="0" y="258000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flipH="1">
            <a:off x="-1352580" y="7144503"/>
            <a:ext cx="4227594" cy="4227594"/>
          </a:xfrm>
          <a:custGeom>
            <a:avLst/>
            <a:gdLst/>
            <a:ahLst/>
            <a:cxnLst/>
            <a:rect l="l" t="t" r="r" b="b"/>
            <a:pathLst>
              <a:path w="4227594" h="4227594">
                <a:moveTo>
                  <a:pt x="4227594" y="0"/>
                </a:moveTo>
                <a:lnTo>
                  <a:pt x="0" y="0"/>
                </a:lnTo>
                <a:lnTo>
                  <a:pt x="0" y="4227594"/>
                </a:lnTo>
                <a:lnTo>
                  <a:pt x="4227594" y="4227594"/>
                </a:lnTo>
                <a:lnTo>
                  <a:pt x="4227594"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5" name="Freeform 5"/>
          <p:cNvSpPr/>
          <p:nvPr/>
        </p:nvSpPr>
        <p:spPr>
          <a:xfrm>
            <a:off x="15201900" y="7843242"/>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grpSp>
        <p:nvGrpSpPr>
          <p:cNvPr id="6" name="Group 6"/>
          <p:cNvGrpSpPr/>
          <p:nvPr/>
        </p:nvGrpSpPr>
        <p:grpSpPr>
          <a:xfrm>
            <a:off x="17259300" y="6703862"/>
            <a:ext cx="2053173" cy="2053173"/>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5CCE2"/>
            </a:solidFill>
          </p:spPr>
          <p:txBody>
            <a:bodyPr/>
            <a:lstStyle/>
            <a:p>
              <a:endParaRPr lang="en-US"/>
            </a:p>
          </p:txBody>
        </p:sp>
        <p:sp>
          <p:nvSpPr>
            <p:cNvPr id="8" name="TextBox 8"/>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p:cNvSpPr/>
          <p:nvPr/>
        </p:nvSpPr>
        <p:spPr>
          <a:xfrm>
            <a:off x="-3285545" y="-800100"/>
            <a:ext cx="5816717" cy="2855479"/>
          </a:xfrm>
          <a:custGeom>
            <a:avLst/>
            <a:gdLst/>
            <a:ahLst/>
            <a:cxnLst/>
            <a:rect l="l" t="t" r="r" b="b"/>
            <a:pathLst>
              <a:path w="5816717" h="2855479">
                <a:moveTo>
                  <a:pt x="0" y="0"/>
                </a:moveTo>
                <a:lnTo>
                  <a:pt x="5816717" y="0"/>
                </a:lnTo>
                <a:lnTo>
                  <a:pt x="5816717" y="2855479"/>
                </a:lnTo>
                <a:lnTo>
                  <a:pt x="0" y="285547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10" name="TextBox 10"/>
          <p:cNvSpPr txBox="1"/>
          <p:nvPr/>
        </p:nvSpPr>
        <p:spPr>
          <a:xfrm>
            <a:off x="3052544" y="3364305"/>
            <a:ext cx="12182913" cy="5392730"/>
          </a:xfrm>
          <a:prstGeom prst="rect">
            <a:avLst/>
          </a:prstGeom>
        </p:spPr>
        <p:txBody>
          <a:bodyPr lIns="0" tIns="0" rIns="0" bIns="0" rtlCol="0" anchor="t">
            <a:spAutoFit/>
          </a:bodyPr>
          <a:lstStyle/>
          <a:p>
            <a:pPr marL="744589" lvl="1" indent="-372295" algn="l">
              <a:lnSpc>
                <a:spcPts val="3966"/>
              </a:lnSpc>
              <a:buFont typeface="Arial"/>
              <a:buChar char="•"/>
            </a:pPr>
            <a:r>
              <a:rPr lang="en-US" sz="3448" b="1">
                <a:solidFill>
                  <a:srgbClr val="007D9C"/>
                </a:solidFill>
                <a:latin typeface="Open Sauce Bold"/>
                <a:ea typeface="Open Sauce Bold"/>
                <a:cs typeface="Open Sauce Bold"/>
                <a:sym typeface="Open Sauce Bold"/>
              </a:rPr>
              <a:t>Competitor Analysis:</a:t>
            </a:r>
          </a:p>
          <a:p>
            <a:pPr algn="l">
              <a:lnSpc>
                <a:spcPts val="3966"/>
              </a:lnSpc>
            </a:pPr>
            <a:r>
              <a:rPr lang="en-US" sz="3448" b="1">
                <a:solidFill>
                  <a:srgbClr val="007D9C"/>
                </a:solidFill>
                <a:latin typeface="Open Sauce Bold"/>
                <a:ea typeface="Open Sauce Bold"/>
                <a:cs typeface="Open Sauce Bold"/>
                <a:sym typeface="Open Sauce Bold"/>
              </a:rPr>
              <a:t>Identifying gaps in existing solutions to gauge opportunities for our app in the market.</a:t>
            </a:r>
          </a:p>
          <a:p>
            <a:pPr algn="ctr">
              <a:lnSpc>
                <a:spcPts val="3966"/>
              </a:lnSpc>
            </a:pPr>
            <a:endParaRPr lang="en-US" sz="3448" b="1">
              <a:solidFill>
                <a:srgbClr val="007D9C"/>
              </a:solidFill>
              <a:latin typeface="Open Sauce Bold"/>
              <a:ea typeface="Open Sauce Bold"/>
              <a:cs typeface="Open Sauce Bold"/>
              <a:sym typeface="Open Sauce Bold"/>
            </a:endParaRPr>
          </a:p>
          <a:p>
            <a:pPr marL="744589" lvl="1" indent="-372295" algn="l">
              <a:lnSpc>
                <a:spcPts val="3966"/>
              </a:lnSpc>
              <a:buFont typeface="Arial"/>
              <a:buChar char="•"/>
            </a:pPr>
            <a:r>
              <a:rPr lang="en-US" sz="3448" b="1">
                <a:solidFill>
                  <a:srgbClr val="007D9C"/>
                </a:solidFill>
                <a:latin typeface="Open Sauce Bold"/>
                <a:ea typeface="Open Sauce Bold"/>
                <a:cs typeface="Open Sauce Bold"/>
                <a:sym typeface="Open Sauce Bold"/>
              </a:rPr>
              <a:t>Planned Market Validation:</a:t>
            </a:r>
          </a:p>
          <a:p>
            <a:pPr algn="l">
              <a:lnSpc>
                <a:spcPts val="3966"/>
              </a:lnSpc>
            </a:pPr>
            <a:r>
              <a:rPr lang="en-US" sz="3448" b="1">
                <a:solidFill>
                  <a:srgbClr val="007D9C"/>
                </a:solidFill>
                <a:latin typeface="Open Sauce Bold"/>
                <a:ea typeface="Open Sauce Bold"/>
                <a:cs typeface="Open Sauce Bold"/>
                <a:sym typeface="Open Sauce Bold"/>
              </a:rPr>
              <a:t>We’re planning on conducting interviews with festival organisers (pain points, existing processes).</a:t>
            </a:r>
          </a:p>
          <a:p>
            <a:pPr algn="l">
              <a:lnSpc>
                <a:spcPts val="3966"/>
              </a:lnSpc>
            </a:pPr>
            <a:endParaRPr lang="en-US" sz="3448" b="1">
              <a:solidFill>
                <a:srgbClr val="007D9C"/>
              </a:solidFill>
              <a:latin typeface="Open Sauce Bold"/>
              <a:ea typeface="Open Sauce Bold"/>
              <a:cs typeface="Open Sauce Bold"/>
              <a:sym typeface="Open Sauce Bold"/>
            </a:endParaRPr>
          </a:p>
          <a:p>
            <a:pPr algn="l">
              <a:lnSpc>
                <a:spcPts val="3966"/>
              </a:lnSpc>
            </a:pPr>
            <a:r>
              <a:rPr lang="en-US" sz="3448" b="1">
                <a:solidFill>
                  <a:srgbClr val="007D9C"/>
                </a:solidFill>
                <a:latin typeface="Open Sauce Bold"/>
                <a:ea typeface="Open Sauce Bold"/>
                <a:cs typeface="Open Sauce Bold"/>
                <a:sym typeface="Open Sauce Bold"/>
              </a:rPr>
              <a:t>Surveying festival attendees (identifying struggles with overcrowding/time management at festivals).</a:t>
            </a:r>
          </a:p>
          <a:p>
            <a:pPr algn="l">
              <a:lnSpc>
                <a:spcPts val="3506"/>
              </a:lnSpc>
            </a:pPr>
            <a:endParaRPr lang="en-US" sz="3448" b="1">
              <a:solidFill>
                <a:srgbClr val="007D9C"/>
              </a:solidFill>
              <a:latin typeface="Open Sauce Bold"/>
              <a:ea typeface="Open Sauce Bold"/>
              <a:cs typeface="Open Sauce Bold"/>
              <a:sym typeface="Open Sauce Bold"/>
            </a:endParaRPr>
          </a:p>
        </p:txBody>
      </p:sp>
      <p:grpSp>
        <p:nvGrpSpPr>
          <p:cNvPr id="11" name="Group 11"/>
          <p:cNvGrpSpPr/>
          <p:nvPr/>
        </p:nvGrpSpPr>
        <p:grpSpPr>
          <a:xfrm>
            <a:off x="-638476" y="1080055"/>
            <a:ext cx="1399693" cy="139969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7D9C"/>
            </a:solidFill>
          </p:spPr>
          <p:txBody>
            <a:bodyPr/>
            <a:lstStyle/>
            <a:p>
              <a:endParaRPr lang="en-US"/>
            </a:p>
          </p:txBody>
        </p:sp>
        <p:sp>
          <p:nvSpPr>
            <p:cNvPr id="13" name="TextBox 13"/>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3994232" y="1123950"/>
            <a:ext cx="9434016" cy="1621788"/>
          </a:xfrm>
          <a:prstGeom prst="rect">
            <a:avLst/>
          </a:prstGeom>
        </p:spPr>
        <p:txBody>
          <a:bodyPr lIns="0" tIns="0" rIns="0" bIns="0" rtlCol="0" anchor="t">
            <a:spAutoFit/>
          </a:bodyPr>
          <a:lstStyle/>
          <a:p>
            <a:pPr algn="ctr">
              <a:lnSpc>
                <a:spcPts val="6213"/>
              </a:lnSpc>
            </a:pPr>
            <a:r>
              <a:rPr lang="en-US" sz="6091" b="1">
                <a:solidFill>
                  <a:srgbClr val="0097B2"/>
                </a:solidFill>
                <a:latin typeface="Open Sauce Heavy"/>
                <a:ea typeface="Open Sauce Heavy"/>
                <a:cs typeface="Open Sauce Heavy"/>
                <a:sym typeface="Open Sauce Heavy"/>
              </a:rPr>
              <a:t>EXPECTED TECHNICAL DELIVERY</a:t>
            </a:r>
          </a:p>
        </p:txBody>
      </p:sp>
      <p:sp>
        <p:nvSpPr>
          <p:cNvPr id="3" name="Freeform 3"/>
          <p:cNvSpPr/>
          <p:nvPr/>
        </p:nvSpPr>
        <p:spPr>
          <a:xfrm>
            <a:off x="15443283" y="-800100"/>
            <a:ext cx="5160004" cy="2580002"/>
          </a:xfrm>
          <a:custGeom>
            <a:avLst/>
            <a:gdLst/>
            <a:ahLst/>
            <a:cxnLst/>
            <a:rect l="l" t="t" r="r" b="b"/>
            <a:pathLst>
              <a:path w="5160004" h="2580002">
                <a:moveTo>
                  <a:pt x="0" y="0"/>
                </a:moveTo>
                <a:lnTo>
                  <a:pt x="5160004" y="0"/>
                </a:lnTo>
                <a:lnTo>
                  <a:pt x="5160004" y="2580002"/>
                </a:lnTo>
                <a:lnTo>
                  <a:pt x="0" y="258000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4" name="Freeform 4"/>
          <p:cNvSpPr/>
          <p:nvPr/>
        </p:nvSpPr>
        <p:spPr>
          <a:xfrm flipH="1">
            <a:off x="-1352580" y="7144503"/>
            <a:ext cx="4227594" cy="4227594"/>
          </a:xfrm>
          <a:custGeom>
            <a:avLst/>
            <a:gdLst/>
            <a:ahLst/>
            <a:cxnLst/>
            <a:rect l="l" t="t" r="r" b="b"/>
            <a:pathLst>
              <a:path w="4227594" h="4227594">
                <a:moveTo>
                  <a:pt x="4227594" y="0"/>
                </a:moveTo>
                <a:lnTo>
                  <a:pt x="0" y="0"/>
                </a:lnTo>
                <a:lnTo>
                  <a:pt x="0" y="4227594"/>
                </a:lnTo>
                <a:lnTo>
                  <a:pt x="4227594" y="4227594"/>
                </a:lnTo>
                <a:lnTo>
                  <a:pt x="4227594"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5" name="Freeform 5"/>
          <p:cNvSpPr/>
          <p:nvPr/>
        </p:nvSpPr>
        <p:spPr>
          <a:xfrm>
            <a:off x="15201900" y="7843242"/>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grpSp>
        <p:nvGrpSpPr>
          <p:cNvPr id="6" name="Group 6"/>
          <p:cNvGrpSpPr/>
          <p:nvPr/>
        </p:nvGrpSpPr>
        <p:grpSpPr>
          <a:xfrm>
            <a:off x="17259300" y="6703862"/>
            <a:ext cx="2053173" cy="2053173"/>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5CCE2"/>
            </a:solidFill>
          </p:spPr>
          <p:txBody>
            <a:bodyPr/>
            <a:lstStyle/>
            <a:p>
              <a:endParaRPr lang="en-US"/>
            </a:p>
          </p:txBody>
        </p:sp>
        <p:sp>
          <p:nvSpPr>
            <p:cNvPr id="8" name="TextBox 8"/>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p:cNvSpPr/>
          <p:nvPr/>
        </p:nvSpPr>
        <p:spPr>
          <a:xfrm>
            <a:off x="-3285545" y="-800100"/>
            <a:ext cx="5816717" cy="2855479"/>
          </a:xfrm>
          <a:custGeom>
            <a:avLst/>
            <a:gdLst/>
            <a:ahLst/>
            <a:cxnLst/>
            <a:rect l="l" t="t" r="r" b="b"/>
            <a:pathLst>
              <a:path w="5816717" h="2855479">
                <a:moveTo>
                  <a:pt x="0" y="0"/>
                </a:moveTo>
                <a:lnTo>
                  <a:pt x="5816717" y="0"/>
                </a:lnTo>
                <a:lnTo>
                  <a:pt x="5816717" y="2855479"/>
                </a:lnTo>
                <a:lnTo>
                  <a:pt x="0" y="2855479"/>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US"/>
          </a:p>
        </p:txBody>
      </p:sp>
      <p:grpSp>
        <p:nvGrpSpPr>
          <p:cNvPr id="10" name="Group 10"/>
          <p:cNvGrpSpPr/>
          <p:nvPr/>
        </p:nvGrpSpPr>
        <p:grpSpPr>
          <a:xfrm>
            <a:off x="-638476" y="1080055"/>
            <a:ext cx="1399693" cy="1399693"/>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7D9C"/>
            </a:solidFill>
          </p:spPr>
          <p:txBody>
            <a:bodyPr/>
            <a:lstStyle/>
            <a:p>
              <a:endParaRPr lang="en-US"/>
            </a:p>
          </p:txBody>
        </p:sp>
        <p:sp>
          <p:nvSpPr>
            <p:cNvPr id="12" name="TextBox 12"/>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3" name="TextBox 13"/>
          <p:cNvSpPr txBox="1"/>
          <p:nvPr/>
        </p:nvSpPr>
        <p:spPr>
          <a:xfrm>
            <a:off x="2736447" y="4368851"/>
            <a:ext cx="12263031" cy="3135274"/>
          </a:xfrm>
          <a:prstGeom prst="rect">
            <a:avLst/>
          </a:prstGeom>
        </p:spPr>
        <p:txBody>
          <a:bodyPr lIns="0" tIns="0" rIns="0" bIns="0" rtlCol="0" anchor="t">
            <a:spAutoFit/>
          </a:bodyPr>
          <a:lstStyle/>
          <a:p>
            <a:pPr algn="l">
              <a:lnSpc>
                <a:spcPts val="4148"/>
              </a:lnSpc>
            </a:pPr>
            <a:r>
              <a:rPr lang="en-US" sz="3607" b="1">
                <a:solidFill>
                  <a:srgbClr val="007D9C"/>
                </a:solidFill>
                <a:latin typeface="Open Sauce Bold"/>
                <a:ea typeface="Open Sauce Bold"/>
                <a:cs typeface="Open Sauce Bold"/>
                <a:sym typeface="Open Sauce Bold"/>
              </a:rPr>
              <a:t>Map of festival grounds with live crowd capacity signs accompanying festival areas.</a:t>
            </a:r>
          </a:p>
          <a:p>
            <a:pPr algn="l">
              <a:lnSpc>
                <a:spcPts val="4148"/>
              </a:lnSpc>
            </a:pPr>
            <a:endParaRPr lang="en-US" sz="3607" b="1">
              <a:solidFill>
                <a:srgbClr val="007D9C"/>
              </a:solidFill>
              <a:latin typeface="Open Sauce Bold"/>
              <a:ea typeface="Open Sauce Bold"/>
              <a:cs typeface="Open Sauce Bold"/>
              <a:sym typeface="Open Sauce Bold"/>
            </a:endParaRPr>
          </a:p>
          <a:p>
            <a:pPr algn="l">
              <a:lnSpc>
                <a:spcPts val="4148"/>
              </a:lnSpc>
            </a:pPr>
            <a:r>
              <a:rPr lang="en-US" sz="3607" b="1">
                <a:solidFill>
                  <a:srgbClr val="007D9C"/>
                </a:solidFill>
                <a:latin typeface="Open Sauce Bold"/>
                <a:ea typeface="Open Sauce Bold"/>
                <a:cs typeface="Open Sauce Bold"/>
                <a:sym typeface="Open Sauce Bold"/>
              </a:rPr>
              <a:t>Smaller scale functioning prototype developed to test crowd monitoring functionality.</a:t>
            </a:r>
          </a:p>
          <a:p>
            <a:pPr algn="l">
              <a:lnSpc>
                <a:spcPts val="4148"/>
              </a:lnSpc>
            </a:pPr>
            <a:endParaRPr lang="en-US" sz="3607" b="1">
              <a:solidFill>
                <a:srgbClr val="007D9C"/>
              </a:solidFill>
              <a:latin typeface="Open Sauce Bold"/>
              <a:ea typeface="Open Sauce Bold"/>
              <a:cs typeface="Open Sauce Bold"/>
              <a:sym typeface="Open Sauce Bo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017638" y="923537"/>
            <a:ext cx="7939180" cy="1554314"/>
          </a:xfrm>
          <a:prstGeom prst="rect">
            <a:avLst/>
          </a:prstGeom>
        </p:spPr>
        <p:txBody>
          <a:bodyPr lIns="0" tIns="0" rIns="0" bIns="0" rtlCol="0" anchor="t">
            <a:spAutoFit/>
          </a:bodyPr>
          <a:lstStyle/>
          <a:p>
            <a:pPr algn="ctr">
              <a:lnSpc>
                <a:spcPts val="6027"/>
              </a:lnSpc>
            </a:pPr>
            <a:r>
              <a:rPr lang="en-US" sz="5909" b="1">
                <a:solidFill>
                  <a:srgbClr val="0097B2"/>
                </a:solidFill>
                <a:latin typeface="Open Sauce Heavy"/>
                <a:ea typeface="Open Sauce Heavy"/>
                <a:cs typeface="Open Sauce Heavy"/>
                <a:sym typeface="Open Sauce Heavy"/>
              </a:rPr>
              <a:t>PROPOSED TIMELINE</a:t>
            </a:r>
          </a:p>
        </p:txBody>
      </p:sp>
      <p:sp>
        <p:nvSpPr>
          <p:cNvPr id="3" name="Freeform 3"/>
          <p:cNvSpPr/>
          <p:nvPr/>
        </p:nvSpPr>
        <p:spPr>
          <a:xfrm>
            <a:off x="15443283" y="-800100"/>
            <a:ext cx="5160004" cy="2580002"/>
          </a:xfrm>
          <a:custGeom>
            <a:avLst/>
            <a:gdLst/>
            <a:ahLst/>
            <a:cxnLst/>
            <a:rect l="l" t="t" r="r" b="b"/>
            <a:pathLst>
              <a:path w="5160004" h="2580002">
                <a:moveTo>
                  <a:pt x="0" y="0"/>
                </a:moveTo>
                <a:lnTo>
                  <a:pt x="5160004" y="0"/>
                </a:lnTo>
                <a:lnTo>
                  <a:pt x="5160004" y="2580002"/>
                </a:lnTo>
                <a:lnTo>
                  <a:pt x="0" y="258000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4" name="Freeform 4"/>
          <p:cNvSpPr/>
          <p:nvPr/>
        </p:nvSpPr>
        <p:spPr>
          <a:xfrm flipH="1">
            <a:off x="-1352580" y="7144503"/>
            <a:ext cx="4227594" cy="4227594"/>
          </a:xfrm>
          <a:custGeom>
            <a:avLst/>
            <a:gdLst/>
            <a:ahLst/>
            <a:cxnLst/>
            <a:rect l="l" t="t" r="r" b="b"/>
            <a:pathLst>
              <a:path w="4227594" h="4227594">
                <a:moveTo>
                  <a:pt x="4227594" y="0"/>
                </a:moveTo>
                <a:lnTo>
                  <a:pt x="0" y="0"/>
                </a:lnTo>
                <a:lnTo>
                  <a:pt x="0" y="4227594"/>
                </a:lnTo>
                <a:lnTo>
                  <a:pt x="4227594" y="4227594"/>
                </a:lnTo>
                <a:lnTo>
                  <a:pt x="4227594"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5" name="Freeform 5"/>
          <p:cNvSpPr/>
          <p:nvPr/>
        </p:nvSpPr>
        <p:spPr>
          <a:xfrm>
            <a:off x="15201900" y="7843242"/>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grpSp>
        <p:nvGrpSpPr>
          <p:cNvPr id="6" name="Group 6"/>
          <p:cNvGrpSpPr/>
          <p:nvPr/>
        </p:nvGrpSpPr>
        <p:grpSpPr>
          <a:xfrm>
            <a:off x="17259300" y="6703862"/>
            <a:ext cx="2053173" cy="2053173"/>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5CCE2"/>
            </a:solidFill>
          </p:spPr>
          <p:txBody>
            <a:bodyPr/>
            <a:lstStyle/>
            <a:p>
              <a:endParaRPr lang="en-US"/>
            </a:p>
          </p:txBody>
        </p:sp>
        <p:sp>
          <p:nvSpPr>
            <p:cNvPr id="8" name="TextBox 8"/>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p:cNvSpPr/>
          <p:nvPr/>
        </p:nvSpPr>
        <p:spPr>
          <a:xfrm>
            <a:off x="-3285545" y="-800100"/>
            <a:ext cx="5816717" cy="2855479"/>
          </a:xfrm>
          <a:custGeom>
            <a:avLst/>
            <a:gdLst/>
            <a:ahLst/>
            <a:cxnLst/>
            <a:rect l="l" t="t" r="r" b="b"/>
            <a:pathLst>
              <a:path w="5816717" h="2855479">
                <a:moveTo>
                  <a:pt x="0" y="0"/>
                </a:moveTo>
                <a:lnTo>
                  <a:pt x="5816717" y="0"/>
                </a:lnTo>
                <a:lnTo>
                  <a:pt x="5816717" y="2855479"/>
                </a:lnTo>
                <a:lnTo>
                  <a:pt x="0" y="2855479"/>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US"/>
          </a:p>
        </p:txBody>
      </p:sp>
      <p:grpSp>
        <p:nvGrpSpPr>
          <p:cNvPr id="10" name="Group 10"/>
          <p:cNvGrpSpPr/>
          <p:nvPr/>
        </p:nvGrpSpPr>
        <p:grpSpPr>
          <a:xfrm>
            <a:off x="-638476" y="1080055"/>
            <a:ext cx="1399693" cy="1399693"/>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7D9C"/>
            </a:solidFill>
          </p:spPr>
          <p:txBody>
            <a:bodyPr/>
            <a:lstStyle/>
            <a:p>
              <a:endParaRPr lang="en-US"/>
            </a:p>
          </p:txBody>
        </p:sp>
        <p:sp>
          <p:nvSpPr>
            <p:cNvPr id="12" name="TextBox 12"/>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3" name="TextBox 13"/>
          <p:cNvSpPr txBox="1"/>
          <p:nvPr/>
        </p:nvSpPr>
        <p:spPr>
          <a:xfrm>
            <a:off x="3926046" y="3600852"/>
            <a:ext cx="11517237" cy="5156182"/>
          </a:xfrm>
          <a:prstGeom prst="rect">
            <a:avLst/>
          </a:prstGeom>
        </p:spPr>
        <p:txBody>
          <a:bodyPr lIns="0" tIns="0" rIns="0" bIns="0" rtlCol="0" anchor="t">
            <a:spAutoFit/>
          </a:bodyPr>
          <a:lstStyle/>
          <a:p>
            <a:pPr algn="l">
              <a:lnSpc>
                <a:spcPts val="3382"/>
              </a:lnSpc>
            </a:pPr>
            <a:r>
              <a:rPr lang="en-US" sz="2941" b="1">
                <a:solidFill>
                  <a:srgbClr val="007D9C"/>
                </a:solidFill>
                <a:latin typeface="Open Sauce Bold"/>
                <a:ea typeface="Open Sauce Bold"/>
                <a:cs typeface="Open Sauce Bold"/>
                <a:sym typeface="Open Sauce Bold"/>
              </a:rPr>
              <a:t>Zeynep - Frontend, UI Design, Cloud Hosting, API’s</a:t>
            </a:r>
          </a:p>
          <a:p>
            <a:pPr algn="l">
              <a:lnSpc>
                <a:spcPts val="3382"/>
              </a:lnSpc>
            </a:pPr>
            <a:endParaRPr lang="en-US" sz="2941" b="1">
              <a:solidFill>
                <a:srgbClr val="007D9C"/>
              </a:solidFill>
              <a:latin typeface="Open Sauce Bold"/>
              <a:ea typeface="Open Sauce Bold"/>
              <a:cs typeface="Open Sauce Bold"/>
              <a:sym typeface="Open Sauce Bold"/>
            </a:endParaRPr>
          </a:p>
          <a:p>
            <a:pPr algn="l">
              <a:lnSpc>
                <a:spcPts val="3382"/>
              </a:lnSpc>
            </a:pPr>
            <a:r>
              <a:rPr lang="en-US" sz="2941" b="1">
                <a:solidFill>
                  <a:srgbClr val="007D9C"/>
                </a:solidFill>
                <a:latin typeface="Open Sauce Bold"/>
                <a:ea typeface="Open Sauce Bold"/>
                <a:cs typeface="Open Sauce Bold"/>
                <a:sym typeface="Open Sauce Bold"/>
              </a:rPr>
              <a:t>Liz - Backend, Geofence Logic, Databases, API’s</a:t>
            </a:r>
          </a:p>
          <a:p>
            <a:pPr algn="l">
              <a:lnSpc>
                <a:spcPts val="3382"/>
              </a:lnSpc>
            </a:pPr>
            <a:endParaRPr lang="en-US" sz="2941" b="1">
              <a:solidFill>
                <a:srgbClr val="007D9C"/>
              </a:solidFill>
              <a:latin typeface="Open Sauce Bold"/>
              <a:ea typeface="Open Sauce Bold"/>
              <a:cs typeface="Open Sauce Bold"/>
              <a:sym typeface="Open Sauce Bold"/>
            </a:endParaRPr>
          </a:p>
          <a:p>
            <a:pPr algn="l">
              <a:lnSpc>
                <a:spcPts val="3382"/>
              </a:lnSpc>
            </a:pPr>
            <a:r>
              <a:rPr lang="en-US" sz="2941" b="1">
                <a:solidFill>
                  <a:srgbClr val="007D9C"/>
                </a:solidFill>
                <a:latin typeface="Open Sauce Bold"/>
                <a:ea typeface="Open Sauce Bold"/>
                <a:cs typeface="Open Sauce Bold"/>
                <a:sym typeface="Open Sauce Bold"/>
              </a:rPr>
              <a:t>Collaborative efforts for our business case</a:t>
            </a:r>
          </a:p>
          <a:p>
            <a:pPr algn="l">
              <a:lnSpc>
                <a:spcPts val="3382"/>
              </a:lnSpc>
            </a:pPr>
            <a:endParaRPr lang="en-US" sz="2941" b="1">
              <a:solidFill>
                <a:srgbClr val="007D9C"/>
              </a:solidFill>
              <a:latin typeface="Open Sauce Bold"/>
              <a:ea typeface="Open Sauce Bold"/>
              <a:cs typeface="Open Sauce Bold"/>
              <a:sym typeface="Open Sauce Bold"/>
            </a:endParaRPr>
          </a:p>
          <a:p>
            <a:pPr algn="l">
              <a:lnSpc>
                <a:spcPts val="3382"/>
              </a:lnSpc>
            </a:pPr>
            <a:r>
              <a:rPr lang="en-US" sz="2941" b="1">
                <a:solidFill>
                  <a:srgbClr val="007D9C"/>
                </a:solidFill>
                <a:latin typeface="Open Sauce Bold"/>
                <a:ea typeface="Open Sauce Bold"/>
                <a:cs typeface="Open Sauce Bold"/>
                <a:sym typeface="Open Sauce Bold"/>
              </a:rPr>
              <a:t>Planning on starting development in late November/December</a:t>
            </a:r>
          </a:p>
          <a:p>
            <a:pPr algn="l">
              <a:lnSpc>
                <a:spcPts val="3382"/>
              </a:lnSpc>
            </a:pPr>
            <a:endParaRPr lang="en-US" sz="2941" b="1">
              <a:solidFill>
                <a:srgbClr val="007D9C"/>
              </a:solidFill>
              <a:latin typeface="Open Sauce Bold"/>
              <a:ea typeface="Open Sauce Bold"/>
              <a:cs typeface="Open Sauce Bold"/>
              <a:sym typeface="Open Sauce Bold"/>
            </a:endParaRPr>
          </a:p>
          <a:p>
            <a:pPr algn="l">
              <a:lnSpc>
                <a:spcPts val="3382"/>
              </a:lnSpc>
            </a:pPr>
            <a:r>
              <a:rPr lang="en-US" sz="2941" b="1">
                <a:solidFill>
                  <a:srgbClr val="007D9C"/>
                </a:solidFill>
                <a:latin typeface="Open Sauce Bold"/>
                <a:ea typeface="Open Sauce Bold"/>
                <a:cs typeface="Open Sauce Bold"/>
                <a:sym typeface="Open Sauce Bold"/>
              </a:rPr>
              <a:t>Ongoing research of suitable software tools</a:t>
            </a:r>
          </a:p>
          <a:p>
            <a:pPr algn="l">
              <a:lnSpc>
                <a:spcPts val="3382"/>
              </a:lnSpc>
            </a:pPr>
            <a:endParaRPr lang="en-US" sz="2941" b="1">
              <a:solidFill>
                <a:srgbClr val="007D9C"/>
              </a:solidFill>
              <a:latin typeface="Open Sauce Bold"/>
              <a:ea typeface="Open Sauce Bold"/>
              <a:cs typeface="Open Sauce Bold"/>
              <a:sym typeface="Open Sauce Bold"/>
            </a:endParaRPr>
          </a:p>
          <a:p>
            <a:pPr algn="l">
              <a:lnSpc>
                <a:spcPts val="3382"/>
              </a:lnSpc>
            </a:pPr>
            <a:endParaRPr lang="en-US" sz="2941" b="1">
              <a:solidFill>
                <a:srgbClr val="007D9C"/>
              </a:solidFill>
              <a:latin typeface="Open Sauce Bold"/>
              <a:ea typeface="Open Sauce Bold"/>
              <a:cs typeface="Open Sauce Bold"/>
              <a:sym typeface="Open Sauce Bo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5443283" y="-800100"/>
            <a:ext cx="5160004" cy="2580002"/>
          </a:xfrm>
          <a:custGeom>
            <a:avLst/>
            <a:gdLst/>
            <a:ahLst/>
            <a:cxnLst/>
            <a:rect l="l" t="t" r="r" b="b"/>
            <a:pathLst>
              <a:path w="5160004" h="2580002">
                <a:moveTo>
                  <a:pt x="0" y="0"/>
                </a:moveTo>
                <a:lnTo>
                  <a:pt x="5160004" y="0"/>
                </a:lnTo>
                <a:lnTo>
                  <a:pt x="5160004" y="2580002"/>
                </a:lnTo>
                <a:lnTo>
                  <a:pt x="0" y="258000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flipH="1">
            <a:off x="-1352580" y="7144503"/>
            <a:ext cx="4227594" cy="4227594"/>
          </a:xfrm>
          <a:custGeom>
            <a:avLst/>
            <a:gdLst/>
            <a:ahLst/>
            <a:cxnLst/>
            <a:rect l="l" t="t" r="r" b="b"/>
            <a:pathLst>
              <a:path w="4227594" h="4227594">
                <a:moveTo>
                  <a:pt x="4227594" y="0"/>
                </a:moveTo>
                <a:lnTo>
                  <a:pt x="0" y="0"/>
                </a:lnTo>
                <a:lnTo>
                  <a:pt x="0" y="4227594"/>
                </a:lnTo>
                <a:lnTo>
                  <a:pt x="4227594" y="4227594"/>
                </a:lnTo>
                <a:lnTo>
                  <a:pt x="4227594"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4" name="Freeform 4"/>
          <p:cNvSpPr/>
          <p:nvPr/>
        </p:nvSpPr>
        <p:spPr>
          <a:xfrm>
            <a:off x="15201900" y="7843242"/>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grpSp>
        <p:nvGrpSpPr>
          <p:cNvPr id="5" name="Group 5"/>
          <p:cNvGrpSpPr/>
          <p:nvPr/>
        </p:nvGrpSpPr>
        <p:grpSpPr>
          <a:xfrm>
            <a:off x="17259300" y="6703862"/>
            <a:ext cx="2053173" cy="205317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5CCE2"/>
            </a:solidFill>
          </p:spPr>
          <p:txBody>
            <a:bodyPr/>
            <a:lstStyle/>
            <a:p>
              <a:endParaRPr lang="en-US"/>
            </a:p>
          </p:txBody>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a:off x="-3285545" y="-800100"/>
            <a:ext cx="5816717" cy="2855479"/>
          </a:xfrm>
          <a:custGeom>
            <a:avLst/>
            <a:gdLst/>
            <a:ahLst/>
            <a:cxnLst/>
            <a:rect l="l" t="t" r="r" b="b"/>
            <a:pathLst>
              <a:path w="5816717" h="2855479">
                <a:moveTo>
                  <a:pt x="0" y="0"/>
                </a:moveTo>
                <a:lnTo>
                  <a:pt x="5816717" y="0"/>
                </a:lnTo>
                <a:lnTo>
                  <a:pt x="5816717" y="2855479"/>
                </a:lnTo>
                <a:lnTo>
                  <a:pt x="0" y="285547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grpSp>
        <p:nvGrpSpPr>
          <p:cNvPr id="9" name="Group 9"/>
          <p:cNvGrpSpPr/>
          <p:nvPr/>
        </p:nvGrpSpPr>
        <p:grpSpPr>
          <a:xfrm>
            <a:off x="-638476" y="1080055"/>
            <a:ext cx="1399693" cy="139969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7D9C"/>
            </a:solidFill>
          </p:spPr>
          <p:txBody>
            <a:bodyPr/>
            <a:lstStyle/>
            <a:p>
              <a:endParaRPr lang="en-US"/>
            </a:p>
          </p:txBody>
        </p:sp>
        <p:sp>
          <p:nvSpPr>
            <p:cNvPr id="11" name="TextBox 11"/>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p:cNvSpPr txBox="1"/>
          <p:nvPr/>
        </p:nvSpPr>
        <p:spPr>
          <a:xfrm>
            <a:off x="4618755" y="3493064"/>
            <a:ext cx="9050490" cy="3211212"/>
          </a:xfrm>
          <a:prstGeom prst="rect">
            <a:avLst/>
          </a:prstGeom>
        </p:spPr>
        <p:txBody>
          <a:bodyPr lIns="0" tIns="0" rIns="0" bIns="0" rtlCol="0" anchor="t">
            <a:spAutoFit/>
          </a:bodyPr>
          <a:lstStyle/>
          <a:p>
            <a:pPr algn="ctr">
              <a:lnSpc>
                <a:spcPts val="12382"/>
              </a:lnSpc>
            </a:pPr>
            <a:r>
              <a:rPr lang="en-US" sz="12139" b="1">
                <a:solidFill>
                  <a:srgbClr val="0097B2"/>
                </a:solidFill>
                <a:latin typeface="Open Sauce Heavy"/>
                <a:ea typeface="Open Sauce Heavy"/>
                <a:cs typeface="Open Sauce Heavy"/>
                <a:sym typeface="Open Sauce Heavy"/>
              </a:rPr>
              <a:t>THANK</a:t>
            </a:r>
          </a:p>
          <a:p>
            <a:pPr algn="ctr">
              <a:lnSpc>
                <a:spcPts val="12382"/>
              </a:lnSpc>
            </a:pPr>
            <a:r>
              <a:rPr lang="en-US" sz="12139" b="1">
                <a:solidFill>
                  <a:srgbClr val="0097B2"/>
                </a:solidFill>
                <a:latin typeface="Open Sauce Heavy"/>
                <a:ea typeface="Open Sauce Heavy"/>
                <a:cs typeface="Open Sauce Heavy"/>
                <a:sym typeface="Open Sauce Heavy"/>
              </a:rPr>
              <a:t>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678</Words>
  <Application>Microsoft Macintosh PowerPoint</Application>
  <PresentationFormat>Custom</PresentationFormat>
  <Paragraphs>94</Paragraphs>
  <Slides>7</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vt:i4>
      </vt:variant>
    </vt:vector>
  </HeadingPairs>
  <TitlesOfParts>
    <vt:vector size="14" baseType="lpstr">
      <vt:lpstr>Arial</vt:lpstr>
      <vt:lpstr>Open Sauce Bold</vt:lpstr>
      <vt:lpstr>Open Sauce</vt:lpstr>
      <vt:lpstr>Calibri</vt:lpstr>
      <vt:lpstr>Open Sans</vt:lpstr>
      <vt:lpstr>Open Sauce Heavy</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Pulse Path</dc:title>
  <cp:lastModifiedBy>Lizel Sulaj</cp:lastModifiedBy>
  <cp:revision>1</cp:revision>
  <dcterms:created xsi:type="dcterms:W3CDTF">2006-08-16T00:00:00Z</dcterms:created>
  <dcterms:modified xsi:type="dcterms:W3CDTF">2024-10-23T19:45:24Z</dcterms:modified>
  <dc:identifier>DAGUTh9xbSU</dc:identifier>
</cp:coreProperties>
</file>